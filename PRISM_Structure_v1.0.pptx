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8EB"/>
    <a:srgbClr val="FFFFFF"/>
    <a:srgbClr val="FFE9CC"/>
    <a:srgbClr val="8E44AD"/>
    <a:srgbClr val="E74C3C"/>
    <a:srgbClr val="F5A623"/>
    <a:srgbClr val="16A085"/>
    <a:srgbClr val="00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CHOPRA" userId="52805454-33b7-4f93-b1fc-aa2d666feb87" providerId="ADAL" clId="{50EDB2A6-07F3-4FBF-A580-A3633B3F4FCF}"/>
    <pc:docChg chg="undo custSel delSld modSld sldOrd">
      <pc:chgData name="AKSHAY CHOPRA" userId="52805454-33b7-4f93-b1fc-aa2d666feb87" providerId="ADAL" clId="{50EDB2A6-07F3-4FBF-A580-A3633B3F4FCF}" dt="2026-05-05T07:17:36.975" v="165" actId="1035"/>
      <pc:docMkLst>
        <pc:docMk/>
      </pc:docMkLst>
      <pc:sldChg chg="addSp delSp modSp mod">
        <pc:chgData name="AKSHAY CHOPRA" userId="52805454-33b7-4f93-b1fc-aa2d666feb87" providerId="ADAL" clId="{50EDB2A6-07F3-4FBF-A580-A3633B3F4FCF}" dt="2026-05-05T07:03:11.293" v="11" actId="20577"/>
        <pc:sldMkLst>
          <pc:docMk/>
          <pc:sldMk cId="0" sldId="258"/>
        </pc:sldMkLst>
        <pc:spChg chg="mod">
          <ac:chgData name="AKSHAY CHOPRA" userId="52805454-33b7-4f93-b1fc-aa2d666feb87" providerId="ADAL" clId="{50EDB2A6-07F3-4FBF-A580-A3633B3F4FCF}" dt="2026-05-05T07:02:12.050" v="1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2:19.194" v="2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3:11.293" v="11" actId="20577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AKSHAY CHOPRA" userId="52805454-33b7-4f93-b1fc-aa2d666feb87" providerId="ADAL" clId="{50EDB2A6-07F3-4FBF-A580-A3633B3F4FCF}" dt="2026-05-05T07:02:33.366" v="5" actId="478"/>
          <ac:spMkLst>
            <pc:docMk/>
            <pc:sldMk cId="0" sldId="258"/>
            <ac:spMk id="29" creationId="{00000000-0000-0000-0000-000000000000}"/>
          </ac:spMkLst>
        </pc:spChg>
        <pc:cxnChg chg="add mod">
          <ac:chgData name="AKSHAY CHOPRA" userId="52805454-33b7-4f93-b1fc-aa2d666feb87" providerId="ADAL" clId="{50EDB2A6-07F3-4FBF-A580-A3633B3F4FCF}" dt="2026-05-05T07:03:01.936" v="10" actId="208"/>
          <ac:cxnSpMkLst>
            <pc:docMk/>
            <pc:sldMk cId="0" sldId="258"/>
            <ac:cxnSpMk id="68" creationId="{863E994B-D956-53B0-80F5-9EB87C4B716A}"/>
          </ac:cxnSpMkLst>
        </pc:cxnChg>
      </pc:sldChg>
      <pc:sldChg chg="modSp mod">
        <pc:chgData name="AKSHAY CHOPRA" userId="52805454-33b7-4f93-b1fc-aa2d666feb87" providerId="ADAL" clId="{50EDB2A6-07F3-4FBF-A580-A3633B3F4FCF}" dt="2026-05-05T07:17:36.975" v="165" actId="1035"/>
        <pc:sldMkLst>
          <pc:docMk/>
          <pc:sldMk cId="0" sldId="260"/>
        </pc:sldMkLst>
        <pc:spChg chg="mod">
          <ac:chgData name="AKSHAY CHOPRA" userId="52805454-33b7-4f93-b1fc-aa2d666feb87" providerId="ADAL" clId="{50EDB2A6-07F3-4FBF-A580-A3633B3F4FCF}" dt="2026-05-05T07:17:36.975" v="165" actId="103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7:36.975" v="165" actId="1035"/>
          <ac:spMkLst>
            <pc:docMk/>
            <pc:sldMk cId="0" sldId="260"/>
            <ac:spMk id="22" creationId="{00000000-0000-0000-0000-000000000000}"/>
          </ac:spMkLst>
        </pc:spChg>
        <pc:picChg chg="mod">
          <ac:chgData name="AKSHAY CHOPRA" userId="52805454-33b7-4f93-b1fc-aa2d666feb87" providerId="ADAL" clId="{50EDB2A6-07F3-4FBF-A580-A3633B3F4FCF}" dt="2026-05-05T07:17:30.204" v="142" actId="1035"/>
          <ac:picMkLst>
            <pc:docMk/>
            <pc:sldMk cId="0" sldId="260"/>
            <ac:picMk id="5" creationId="{00000000-0000-0000-0000-000000000000}"/>
          </ac:picMkLst>
        </pc:picChg>
      </pc:sldChg>
      <pc:sldChg chg="modSp mod">
        <pc:chgData name="AKSHAY CHOPRA" userId="52805454-33b7-4f93-b1fc-aa2d666feb87" providerId="ADAL" clId="{50EDB2A6-07F3-4FBF-A580-A3633B3F4FCF}" dt="2026-05-05T07:11:51.860" v="38" actId="12789"/>
        <pc:sldMkLst>
          <pc:docMk/>
          <pc:sldMk cId="0" sldId="261"/>
        </pc:sldMkLst>
        <pc:spChg chg="mod">
          <ac:chgData name="AKSHAY CHOPRA" userId="52805454-33b7-4f93-b1fc-aa2d666feb87" providerId="ADAL" clId="{50EDB2A6-07F3-4FBF-A580-A3633B3F4FCF}" dt="2026-05-05T07:04:12.211" v="13" actId="12789"/>
          <ac:spMkLst>
            <pc:docMk/>
            <pc:sldMk cId="0" sldId="261"/>
            <ac:spMk id="5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12.211" v="13" actId="12789"/>
          <ac:spMkLst>
            <pc:docMk/>
            <pc:sldMk cId="0" sldId="261"/>
            <ac:spMk id="6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18.571" v="14" actId="12789"/>
          <ac:spMkLst>
            <pc:docMk/>
            <pc:sldMk cId="0" sldId="261"/>
            <ac:spMk id="9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18.571" v="14" actId="12789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33.979" v="16" actId="12789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33.979" v="16" actId="12789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45.920" v="17" actId="12789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45.920" v="17" actId="12789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54.919" v="18" actId="12789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04:54.919" v="18" actId="12789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1:51.860" v="38" actId="12789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1:51.860" v="38" actId="12789"/>
          <ac:spMkLst>
            <pc:docMk/>
            <pc:sldMk cId="0" sldId="261"/>
            <ac:spMk id="26" creationId="{00000000-0000-0000-0000-000000000000}"/>
          </ac:spMkLst>
        </pc:spChg>
        <pc:spChg chg="mod ord">
          <ac:chgData name="AKSHAY CHOPRA" userId="52805454-33b7-4f93-b1fc-aa2d666feb87" providerId="ADAL" clId="{50EDB2A6-07F3-4FBF-A580-A3633B3F4FCF}" dt="2026-05-05T07:11:27.452" v="32" actId="12789"/>
          <ac:spMkLst>
            <pc:docMk/>
            <pc:sldMk cId="0" sldId="261"/>
            <ac:spMk id="29" creationId="{00000000-0000-0000-0000-000000000000}"/>
          </ac:spMkLst>
        </pc:spChg>
        <pc:spChg chg="mod ord">
          <ac:chgData name="AKSHAY CHOPRA" userId="52805454-33b7-4f93-b1fc-aa2d666feb87" providerId="ADAL" clId="{50EDB2A6-07F3-4FBF-A580-A3633B3F4FCF}" dt="2026-05-05T07:11:27.452" v="32" actId="12789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1:40.259" v="34" actId="12788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1:40.259" v="34" actId="12788"/>
          <ac:spMkLst>
            <pc:docMk/>
            <pc:sldMk cId="0" sldId="261"/>
            <ac:spMk id="34" creationId="{00000000-0000-0000-0000-000000000000}"/>
          </ac:spMkLst>
        </pc:spChg>
      </pc:sldChg>
      <pc:sldChg chg="mod ord modShow">
        <pc:chgData name="AKSHAY CHOPRA" userId="52805454-33b7-4f93-b1fc-aa2d666feb87" providerId="ADAL" clId="{50EDB2A6-07F3-4FBF-A580-A3633B3F4FCF}" dt="2026-05-05T07:12:13.877" v="41"/>
        <pc:sldMkLst>
          <pc:docMk/>
          <pc:sldMk cId="0" sldId="262"/>
        </pc:sldMkLst>
      </pc:sldChg>
      <pc:sldChg chg="addSp delSp modSp mod">
        <pc:chgData name="AKSHAY CHOPRA" userId="52805454-33b7-4f93-b1fc-aa2d666feb87" providerId="ADAL" clId="{50EDB2A6-07F3-4FBF-A580-A3633B3F4FCF}" dt="2026-05-05T07:16:16.433" v="118" actId="403"/>
        <pc:sldMkLst>
          <pc:docMk/>
          <pc:sldMk cId="0" sldId="266"/>
        </pc:sldMkLst>
        <pc:spChg chg="mod">
          <ac:chgData name="AKSHAY CHOPRA" userId="52805454-33b7-4f93-b1fc-aa2d666feb87" providerId="ADAL" clId="{50EDB2A6-07F3-4FBF-A580-A3633B3F4FCF}" dt="2026-05-05T07:16:11.569" v="117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6:11.569" v="117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6:16.433" v="118" actId="403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6:16.433" v="118" actId="403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5:53.992" v="115" actId="20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3:47.725" v="94" actId="1035"/>
          <ac:spMkLst>
            <pc:docMk/>
            <pc:sldMk cId="0" sldId="266"/>
            <ac:spMk id="18" creationId="{00000000-0000-0000-0000-000000000000}"/>
          </ac:spMkLst>
        </pc:spChg>
        <pc:spChg chg="del">
          <ac:chgData name="AKSHAY CHOPRA" userId="52805454-33b7-4f93-b1fc-aa2d666feb87" providerId="ADAL" clId="{50EDB2A6-07F3-4FBF-A580-A3633B3F4FCF}" dt="2026-05-05T07:13:26.537" v="67" actId="478"/>
          <ac:spMkLst>
            <pc:docMk/>
            <pc:sldMk cId="0" sldId="266"/>
            <ac:spMk id="19" creationId="{00000000-0000-0000-0000-000000000000}"/>
          </ac:spMkLst>
        </pc:spChg>
        <pc:spChg chg="del mod">
          <ac:chgData name="AKSHAY CHOPRA" userId="52805454-33b7-4f93-b1fc-aa2d666feb87" providerId="ADAL" clId="{50EDB2A6-07F3-4FBF-A580-A3633B3F4FCF}" dt="2026-05-05T07:13:24.550" v="66" actId="47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6:07.444" v="116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KSHAY CHOPRA" userId="52805454-33b7-4f93-b1fc-aa2d666feb87" providerId="ADAL" clId="{50EDB2A6-07F3-4FBF-A580-A3633B3F4FCF}" dt="2026-05-05T07:16:07.444" v="116" actId="403"/>
          <ac:spMkLst>
            <pc:docMk/>
            <pc:sldMk cId="0" sldId="266"/>
            <ac:spMk id="24" creationId="{00000000-0000-0000-0000-000000000000}"/>
          </ac:spMkLst>
        </pc:spChg>
        <pc:cxnChg chg="add del mod">
          <ac:chgData name="AKSHAY CHOPRA" userId="52805454-33b7-4f93-b1fc-aa2d666feb87" providerId="ADAL" clId="{50EDB2A6-07F3-4FBF-A580-A3633B3F4FCF}" dt="2026-05-05T07:14:00.379" v="96" actId="11529"/>
          <ac:cxnSpMkLst>
            <pc:docMk/>
            <pc:sldMk cId="0" sldId="266"/>
            <ac:cxnSpMk id="29" creationId="{096AE5C3-229D-9195-692C-DC6553640011}"/>
          </ac:cxnSpMkLst>
        </pc:cxnChg>
        <pc:cxnChg chg="add mod">
          <ac:chgData name="AKSHAY CHOPRA" userId="52805454-33b7-4f93-b1fc-aa2d666feb87" providerId="ADAL" clId="{50EDB2A6-07F3-4FBF-A580-A3633B3F4FCF}" dt="2026-05-05T07:15:12.233" v="112" actId="208"/>
          <ac:cxnSpMkLst>
            <pc:docMk/>
            <pc:sldMk cId="0" sldId="266"/>
            <ac:cxnSpMk id="31" creationId="{995B8300-6731-76DF-ED79-424A197B1EBA}"/>
          </ac:cxnSpMkLst>
        </pc:cxnChg>
        <pc:cxnChg chg="add mod">
          <ac:chgData name="AKSHAY CHOPRA" userId="52805454-33b7-4f93-b1fc-aa2d666feb87" providerId="ADAL" clId="{50EDB2A6-07F3-4FBF-A580-A3633B3F4FCF}" dt="2026-05-05T07:15:08.781" v="111" actId="208"/>
          <ac:cxnSpMkLst>
            <pc:docMk/>
            <pc:sldMk cId="0" sldId="266"/>
            <ac:cxnSpMk id="35" creationId="{BAA998C1-5F81-A5A1-9CC5-AAE463AE2006}"/>
          </ac:cxnSpMkLst>
        </pc:cxnChg>
      </pc:sldChg>
      <pc:sldChg chg="modSp del mod">
        <pc:chgData name="AKSHAY CHOPRA" userId="52805454-33b7-4f93-b1fc-aa2d666feb87" providerId="ADAL" clId="{50EDB2A6-07F3-4FBF-A580-A3633B3F4FCF}" dt="2026-05-05T07:16:51.455" v="123" actId="2696"/>
        <pc:sldMkLst>
          <pc:docMk/>
          <pc:sldMk cId="0" sldId="267"/>
        </pc:sldMkLst>
        <pc:spChg chg="mod">
          <ac:chgData name="AKSHAY CHOPRA" userId="52805454-33b7-4f93-b1fc-aa2d666feb87" providerId="ADAL" clId="{50EDB2A6-07F3-4FBF-A580-A3633B3F4FCF}" dt="2026-05-05T07:16:42.023" v="122" actId="27636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1FFB9-8DF5-9DA8-6DF0-3C0F0B542B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42CF0-4BB5-EBFB-9DE3-EAB9B82A616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abstract_digital_scene_futuristic_cy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6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E7FF"/>
                </a:solidFill>
              </a:rPr>
              <a:t>Autonomous Banking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40080" y="188366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PRISM Module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26334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2FF"/>
                </a:solidFill>
              </a:rPr>
              <a:t>Issue &amp; Risk Management Engine for Oracle Database and Engineered Systems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3145536"/>
            <a:ext cx="6035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Evidence-backed RCA • Predictive risk • Benchmarking • RAG learning • LLM-assisted remediation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" y="4160520"/>
            <a:ext cx="2057400" cy="329184"/>
          </a:xfrm>
          <a:prstGeom prst="roundRect">
            <a:avLst>
              <a:gd name="adj" fmla="val 19444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423367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1.0</a:t>
            </a:r>
          </a:p>
        </p:txBody>
      </p:sp>
      <p:sp>
        <p:nvSpPr>
          <p:cNvPr id="9" name="Text 6"/>
          <p:cNvSpPr/>
          <p:nvPr/>
        </p:nvSpPr>
        <p:spPr>
          <a:xfrm>
            <a:off x="658368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3FB"/>
                </a:solidFill>
              </a:rPr>
              <a:t>Standalone-ready and module-ready architecture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PRISM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reactive issue handling to evidence-driven autonomous operations.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63624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Operational pressure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Financial systems are latency-sensitive; each spike can become a service-impacting event.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114300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63624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Diagnostic complexity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3712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AHF, AWR, OSWatcher, CRS/ASM, Exadata and application context are fragmented.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563624"/>
            <a:ext cx="3108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Knowledge leakage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48472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Fixes and RCA learnings are rarely converted into reusable intelligence.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3383280"/>
            <a:ext cx="1920240" cy="914400"/>
          </a:xfrm>
          <a:prstGeom prst="chevron">
            <a:avLst/>
          </a:prstGeom>
          <a:solidFill>
            <a:srgbClr val="FDEBD0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3383280"/>
            <a:ext cx="1920240" cy="914400"/>
          </a:xfrm>
          <a:prstGeom prst="chevron">
            <a:avLst/>
          </a:prstGeom>
          <a:solidFill>
            <a:srgbClr val="D6EAF8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3383280"/>
            <a:ext cx="1920240" cy="914400"/>
          </a:xfrm>
          <a:prstGeom prst="chevron">
            <a:avLst/>
          </a:prstGeom>
          <a:solidFill>
            <a:srgbClr val="D5F5E3"/>
          </a:solidFill>
          <a:ln w="12700">
            <a:solidFill>
              <a:srgbClr val="2EAD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0336" y="3383280"/>
            <a:ext cx="1920240" cy="914400"/>
          </a:xfrm>
          <a:prstGeom prst="chevron">
            <a:avLst/>
          </a:prstGeom>
          <a:solidFill>
            <a:srgbClr val="F9E79F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45168" y="3383280"/>
            <a:ext cx="1920240" cy="914400"/>
          </a:xfrm>
          <a:prstGeom prst="chevron">
            <a:avLst/>
          </a:prstGeom>
          <a:solidFill>
            <a:srgbClr val="E8DAE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B33"/>
                </a:solidFill>
              </a:rPr>
              <a:t>Detect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9272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B33"/>
                </a:solidFill>
              </a:rPr>
              <a:t>Correlate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04104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B33"/>
                </a:solidFill>
              </a:rPr>
              <a:t>Diagnose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88936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B33"/>
                </a:solidFill>
              </a:rPr>
              <a:t>Recommend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73768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1B33"/>
                </a:solidFill>
              </a:rPr>
              <a:t>Learn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3"/>
                </a:solidFill>
              </a:rPr>
              <a:t>PRISM connects evidence, rules, history, risk scoring and LLM-assisted explanation into one governed module.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Banking platform context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 is a module, not the entire application.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10835640" cy="530352"/>
          </a:xfrm>
          <a:prstGeom prst="roundRect">
            <a:avLst>
              <a:gd name="adj" fmla="val 13793"/>
            </a:avLst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45336"/>
            <a:ext cx="106893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Autonomous Banking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Continuous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Monitoring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0A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Incident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16A0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Change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Resolution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Center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87000" y="251460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0152" y="2596896"/>
            <a:ext cx="10881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PRISM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16552" y="4365238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E9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4452106"/>
            <a:ext cx="2322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B33"/>
                </a:solidFill>
              </a:rPr>
              <a:t>Hypertransaction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71B33"/>
                </a:solidFill>
              </a:rPr>
              <a:t>(future module)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41220" y="5056410"/>
            <a:ext cx="7909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A3C4F"/>
                </a:solidFill>
              </a:rPr>
              <a:t>The module will cover any ultra-high-frequency financial workload such as cards, wallets, ATM, mobile/internet banking, switch and core banking.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97C180E-55F4-A631-8A77-82E06F7A1D0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3442716" y="-146304"/>
            <a:ext cx="521208" cy="480060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B30E86F-3B98-1998-72F1-E940F4500E07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4402836" y="813816"/>
            <a:ext cx="521208" cy="2880360"/>
          </a:xfrm>
          <a:prstGeom prst="bentConnector3">
            <a:avLst>
              <a:gd name="adj1" fmla="val 50000"/>
            </a:avLst>
          </a:prstGeom>
          <a:ln w="28575">
            <a:solidFill>
              <a:srgbClr val="00A6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073EB59-CA6F-2049-156F-1F5D009B764C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5362956" y="1773936"/>
            <a:ext cx="521208" cy="960120"/>
          </a:xfrm>
          <a:prstGeom prst="bentConnector3">
            <a:avLst>
              <a:gd name="adj1" fmla="val 50000"/>
            </a:avLst>
          </a:prstGeom>
          <a:ln w="28575">
            <a:solidFill>
              <a:srgbClr val="16A0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B4C77FF-2A70-6FB9-4C60-17B459D37776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6323076" y="1773936"/>
            <a:ext cx="521208" cy="960120"/>
          </a:xfrm>
          <a:prstGeom prst="bentConnector3">
            <a:avLst>
              <a:gd name="adj1" fmla="val 50000"/>
            </a:avLst>
          </a:prstGeom>
          <a:ln w="28575">
            <a:solidFill>
              <a:srgbClr val="F5A62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BEE00F9-1CB1-7A2A-4F60-4EEF0858B6FC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7283196" y="813816"/>
            <a:ext cx="521208" cy="2880360"/>
          </a:xfrm>
          <a:prstGeom prst="bentConnector3">
            <a:avLst>
              <a:gd name="adj1" fmla="val 50000"/>
            </a:avLst>
          </a:prstGeom>
          <a:ln w="28575">
            <a:solidFill>
              <a:srgbClr val="8E44A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AD88D13-A3A4-499B-3157-9F338E9A2B74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16200000" flipH="1">
            <a:off x="8243316" y="-146304"/>
            <a:ext cx="521208" cy="4800600"/>
          </a:xfrm>
          <a:prstGeom prst="bentConnector3">
            <a:avLst>
              <a:gd name="adj1" fmla="val 50000"/>
            </a:avLst>
          </a:prstGeom>
          <a:ln w="28575">
            <a:solidFill>
              <a:srgbClr val="E74C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863E994B-D956-53B0-80F5-9EB87C4B71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5400000">
            <a:off x="7699759" y="1160777"/>
            <a:ext cx="1155694" cy="5253228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 mission and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and risk management with historical learning and governed automation.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14300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6362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Diagnose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AHF, AWR, SQL, OS, AIX, GI/ASM and Exadata evidence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17320"/>
            <a:ext cx="64008" cy="114300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6362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Predict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45152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Issue occurrence and performance degradation risk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41732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156362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Remediate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39912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Guided remediation and approval-based auto-remediation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1089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08960"/>
            <a:ext cx="64008" cy="11430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25526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Benchmark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Current behavior vs baseline and historical incidents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31089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108960"/>
            <a:ext cx="64008" cy="1143000"/>
          </a:xfrm>
          <a:prstGeom prst="rect">
            <a:avLst/>
          </a:prstGeom>
          <a:solidFill>
            <a:srgbClr val="2EAD70"/>
          </a:solidFill>
          <a:ln w="12700">
            <a:solidFill>
              <a:srgbClr val="2EAD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25526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Learn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45152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Update RAG/knowledge with new findings and implemented solutions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75320" y="310896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3108960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325526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Analyze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39912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LLM-assisted RCA, prediction, risk assessment and reports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B33"/>
                </a:solidFill>
              </a:rPr>
              <a:t>PRISM must store, understand, compare and improve from historical operational data—not just summarize a single incident.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 architecture in one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as a standalone service with a module integration contract.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pic>
        <p:nvPicPr>
          <p:cNvPr id="5" name="Image 0" descr="/mnt/data/a_wide_cinematic_dark_sci_fi_dashboard_infograph_batch_2.png"/>
          <p:cNvPicPr>
            <a:picLocks noChangeAspect="1"/>
          </p:cNvPicPr>
          <p:nvPr/>
        </p:nvPicPr>
        <p:blipFill>
          <a:blip r:embed="rId3"/>
          <a:srcRect l="24987" r="24987"/>
          <a:stretch/>
        </p:blipFill>
        <p:spPr>
          <a:xfrm>
            <a:off x="6903720" y="536655"/>
            <a:ext cx="4754880" cy="5349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2344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316736"/>
            <a:ext cx="1819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UI Layer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3464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B33"/>
                </a:solidFill>
              </a:rPr>
              <a:t>Standalone PRISM UI + embedded Autonomous Banking view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21945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00A6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2276856"/>
            <a:ext cx="1819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API Layer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8346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B33"/>
                </a:solidFill>
              </a:rPr>
              <a:t>Analysis, findings, evidence, heatmap, knowledge, admin, LLM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3236976"/>
            <a:ext cx="1819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Core Engine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834640" y="3273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B33"/>
                </a:solidFill>
              </a:rPr>
              <a:t>Ingestion, parser, RCA, risk, remediation, benchmark, RAG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1148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4197096"/>
            <a:ext cx="1819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Layer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83464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B33"/>
                </a:solidFill>
              </a:rPr>
              <a:t>Raw files, parsed evidence, findings, rules, knowledge, audit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85800" y="507492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157216"/>
            <a:ext cx="1819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Integration Layer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834640" y="5193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B33"/>
                </a:solidFill>
              </a:rPr>
              <a:t>Incident, Resolution Center, Analytics, Change, Monitoring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13069" y="5621827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9373" y="5804707"/>
            <a:ext cx="3685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B33"/>
                </a:solidFill>
              </a:rPr>
              <a:t>The module boundary is API-first: Autonomous Banking provides context; PRISM returns risk, RCA, recommendations and knowledge updates.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9079992" y="2240280"/>
            <a:ext cx="749808" cy="749808"/>
          </a:xfrm>
          <a:prstGeom prst="ellipse">
            <a:avLst/>
          </a:prstGeom>
          <a:solidFill>
            <a:srgbClr val="2EAD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vertical slice: Evidence to RCA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milestone proves the full PRISM operating loop.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240280"/>
            <a:ext cx="749808" cy="749808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AHF / Logs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79576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56232" y="2240280"/>
            <a:ext cx="749808" cy="749808"/>
          </a:xfrm>
          <a:prstGeom prst="ellipse">
            <a:avLst/>
          </a:prstGeom>
          <a:solidFill>
            <a:srgbClr val="00A6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Classify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evidence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24328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00984" y="2240280"/>
            <a:ext cx="749808" cy="74980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465576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36392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Parse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events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45736" y="2240280"/>
            <a:ext cx="749808" cy="7498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1144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Match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rules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13832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0488" y="2240280"/>
            <a:ext cx="749808" cy="74980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25896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Generate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RCA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58584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2240280"/>
            <a:ext cx="749808" cy="749808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7804404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0648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risk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03336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915400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Update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RAG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48088" y="2615184"/>
            <a:ext cx="649224" cy="0"/>
          </a:xfrm>
          <a:prstGeom prst="line">
            <a:avLst/>
          </a:prstGeom>
          <a:noFill/>
          <a:ln w="15240">
            <a:solidFill>
              <a:srgbClr val="8AA1B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524744" y="2240280"/>
            <a:ext cx="749808" cy="74980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3908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360152" y="3182112"/>
            <a:ext cx="1097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Expose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33"/>
                </a:solidFill>
              </a:rPr>
              <a:t>API/UI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1520" y="457200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4572000"/>
            <a:ext cx="64008" cy="932688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71830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Test case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96112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Banking DB performance degradation during transaction peak.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457200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572000"/>
            <a:ext cx="64008" cy="932688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471830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Expected finding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99432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DB / MEMORY or DB / PERFORMANCE with high confidence.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38160" y="457200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4572000"/>
            <a:ext cx="64008" cy="932688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471830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Business value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302752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Faster RCA, risk heatmap, reusable operational knowledge.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249156" y="25008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Ten-day path to PRISM-M1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controlled MVP that proves standalone and module modes.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1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Foundation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84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ORA 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52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27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Finding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95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70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Heatmap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38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13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Standalone slice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81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56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LLM summary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24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99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AB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67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942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Historical learning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710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085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Hardening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853928" y="1874520"/>
            <a:ext cx="74980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27080" y="1956816"/>
            <a:ext cx="603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228832" y="2441448"/>
            <a:ext cx="0" cy="685800"/>
          </a:xfrm>
          <a:prstGeom prst="line">
            <a:avLst/>
          </a:prstGeom>
          <a:noFill/>
          <a:ln w="15240">
            <a:solidFill>
              <a:srgbClr val="B8C6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44200" y="3246120"/>
            <a:ext cx="960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Demo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1832" y="2441448"/>
            <a:ext cx="10287000" cy="0"/>
          </a:xfrm>
          <a:prstGeom prst="line">
            <a:avLst/>
          </a:prstGeom>
          <a:noFill/>
          <a:ln w="16510">
            <a:solidFill>
              <a:srgbClr val="B8C6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47091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4709160"/>
            <a:ext cx="64008" cy="91440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" y="4855464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Gate 1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41832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Evidence extraction and rules produce repeatable findings.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34840" y="47091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34840" y="4709160"/>
            <a:ext cx="64008" cy="914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9432" y="4855464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Gate 2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599432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Standalone UI shows RCA, risk and heatmap.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092440" y="47091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92440" y="4709160"/>
            <a:ext cx="6400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57032" y="4855464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Gate 3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257032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Autonomous Banking can consume PRISM output.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success 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to prove before scaling the module.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64008" cy="941832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7218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Standalone-ready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392" y="182880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PRISM runs independently without Autonomous Banking dependency.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325880"/>
            <a:ext cx="64008" cy="94183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47218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Module-ready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9672" y="182880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Autonomous Banking can call PRISM through standardized API.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43200"/>
            <a:ext cx="64008" cy="9418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88950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Evidence-backed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" y="324612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RCA must reference logs, metrics, rules and historical findings.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274320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743200"/>
            <a:ext cx="64008" cy="941832"/>
          </a:xfrm>
          <a:prstGeom prst="rect">
            <a:avLst/>
          </a:prstGeom>
          <a:solidFill>
            <a:srgbClr val="2EAD70"/>
          </a:solidFill>
          <a:ln w="12700">
            <a:solidFill>
              <a:srgbClr val="2EAD7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88950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Learning-enabled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9672" y="324612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Accepted fixes update knowledge/RAG for future similarity mapping.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160520"/>
            <a:ext cx="64008" cy="9418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30682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Risk-visible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" y="466344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Heatmap shows risk by component, severity, category and trend.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4160520"/>
            <a:ext cx="502920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160520"/>
            <a:ext cx="64008" cy="9418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4306824"/>
            <a:ext cx="4709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Governed 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19672" y="4663440"/>
            <a:ext cx="47091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LLM assists analysis but does not invent RCA or execute unsafe actions.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heatmap concept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 converts technical symptoms into management-level risk visibility.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150876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21992" y="1591056"/>
            <a:ext cx="10607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591056"/>
            <a:ext cx="10607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150876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1591056"/>
            <a:ext cx="10607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071B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91056"/>
            <a:ext cx="106070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39696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DB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48840" y="2057400"/>
            <a:ext cx="120700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057400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057400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057400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71576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798064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OS/AIX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48840" y="2715768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715768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715768"/>
            <a:ext cx="1207008" cy="384048"/>
          </a:xfrm>
          <a:prstGeom prst="rect">
            <a:avLst/>
          </a:prstGeom>
          <a:solidFill>
            <a:srgbClr val="2EAD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715768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374136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456432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GI/ASM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48840" y="3374136"/>
            <a:ext cx="1207008" cy="384048"/>
          </a:xfrm>
          <a:prstGeom prst="rect">
            <a:avLst/>
          </a:prstGeom>
          <a:solidFill>
            <a:srgbClr val="2EAD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3374136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3374136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74136"/>
            <a:ext cx="1207008" cy="384048"/>
          </a:xfrm>
          <a:prstGeom prst="rect">
            <a:avLst/>
          </a:prstGeom>
          <a:solidFill>
            <a:srgbClr val="2EAD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032504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114800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Infra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48840" y="4032504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4032504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032504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032504"/>
            <a:ext cx="1207008" cy="384048"/>
          </a:xfrm>
          <a:prstGeom prst="rect">
            <a:avLst/>
          </a:prstGeom>
          <a:solidFill>
            <a:srgbClr val="F4C5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4690872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773168"/>
            <a:ext cx="95097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B33"/>
                </a:solidFill>
              </a:rPr>
              <a:t>Performance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48840" y="4690872"/>
            <a:ext cx="120700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6160" y="4690872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3480" y="4690872"/>
            <a:ext cx="120700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4690872"/>
            <a:ext cx="120700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15087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5320" y="1508760"/>
            <a:ext cx="6400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39912" y="1655064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Executive signal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39912" y="2011680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Red areas become immediate review candidates for Operations, Change or Resolution Center.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75320" y="27889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2788920"/>
            <a:ext cx="64008" cy="10058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9912" y="2935224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Technical drill-down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439912" y="3291840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Every heatmap cell links to findings, evidence, rules and recommendations.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75320" y="40690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4069080"/>
            <a:ext cx="64008" cy="1005840"/>
          </a:xfrm>
          <a:prstGeom prst="rect">
            <a:avLst/>
          </a:prstGeom>
          <a:solidFill>
            <a:srgbClr val="2EAD70"/>
          </a:solidFill>
          <a:ln w="12700">
            <a:solidFill>
              <a:srgbClr val="2EAD70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39912" y="4215384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B33"/>
                </a:solidFill>
              </a:rPr>
              <a:t>Learning loop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439912" y="4572000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A3C4F"/>
                </a:solidFill>
              </a:rPr>
              <a:t>Resolved issues become reusable patterns for future similarity mapping.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Standalone vs module-mode operation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engine, two consumption models.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9616"/>
            <a:ext cx="36027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Standalone PRISM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4173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8392" y="1499616"/>
            <a:ext cx="36027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3"/>
                </a:solidFill>
              </a:rPr>
              <a:t>Autonomous Banking Module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31720"/>
            <a:ext cx="64008" cy="10058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478024"/>
            <a:ext cx="3429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1B33"/>
                </a:solidFill>
              </a:rPr>
              <a:t>Direct DBA/Ops use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A3C4F"/>
                </a:solidFill>
              </a:rPr>
              <a:t>Upload evidence, run analysis, review RCA, update knowledge, export report.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35240" y="233172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331720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2478024"/>
            <a:ext cx="3429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1B33"/>
                </a:solidFill>
              </a:rPr>
              <a:t>Incident-context 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9983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A3C4F"/>
                </a:solidFill>
              </a:rPr>
              <a:t>Incident Management sends context; PRISM returns RCA, risk and resolution payload.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5192" y="2520906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71A8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6152" y="2589486"/>
            <a:ext cx="21396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PRISM Core Engine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51960" y="425196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4251960"/>
            <a:ext cx="64008" cy="914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4398264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1B33"/>
                </a:solidFill>
              </a:rPr>
              <a:t>Integration contract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754880"/>
            <a:ext cx="3246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A3C4F"/>
                </a:solidFill>
              </a:rPr>
              <a:t>REST API + shared JSON schema + app context fields.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5B8300-6731-76DF-ED79-424A197B1EBA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4526280" y="2834640"/>
            <a:ext cx="499872" cy="63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A998C1-5F81-A5A1-9CC5-AAE463AE2006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 flipV="1">
            <a:off x="7251192" y="2834640"/>
            <a:ext cx="384048" cy="63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Three-member execution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build streams converge into one testable MVP.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417320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99616"/>
            <a:ext cx="2825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3"/>
                </a:solidFill>
              </a:rPr>
              <a:t>Ingestion &amp; Evidence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971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AHF reader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File classifier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Parser registry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DB alert parser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Evidence timeline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499616"/>
            <a:ext cx="2825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3"/>
                </a:solidFill>
              </a:rPr>
              <a:t>Intelligence &amp; RCA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26280" y="2468880"/>
            <a:ext cx="2971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Issue taxonomy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Rule engine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Risk scoring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RAG update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LLM adapter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499616"/>
            <a:ext cx="2825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0299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3"/>
                </a:solidFill>
              </a:rPr>
              <a:t>UI, APIs &amp; Integration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21040" y="2468880"/>
            <a:ext cx="2971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Oracle schema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FastAPI/APEX UI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Heatmap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Admin config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A3C4F"/>
                </a:solidFill>
              </a:rPr>
              <a:t>AB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33"/>
                </a:solidFill>
              </a:rPr>
              <a:t>Daily integration rule: each stream must publish JSON contracts and API-ready output by end of day.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Banking | PRISM Module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92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902</Words>
  <Application>Microsoft Office PowerPoint</Application>
  <PresentationFormat>Widescreen</PresentationFormat>
  <Paragraphs>223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AKSHAY CHOPRA</cp:lastModifiedBy>
  <cp:revision>1</cp:revision>
  <dcterms:modified xsi:type="dcterms:W3CDTF">2026-05-05T07:17:48Z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Confidential - Oracle Restricted \Employees Only</vt:lpwstr>
  </property>
</Properties>
</file>